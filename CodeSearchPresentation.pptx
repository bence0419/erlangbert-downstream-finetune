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9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9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1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1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2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5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0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8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17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4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nd white light&#10;&#10;AI-generated content may be incorrect.">
            <a:extLst>
              <a:ext uri="{FF2B5EF4-FFF2-40B4-BE49-F238E27FC236}">
                <a16:creationId xmlns:a16="http://schemas.microsoft.com/office/drawing/2014/main" id="{8F7572DB-84B7-0F21-27B5-01744A8905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59" b="617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67B0D9-15F4-3E8D-9E39-EAC04EE9F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11674129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5600" dirty="0">
                <a:solidFill>
                  <a:srgbClr val="FFFFFF"/>
                </a:solidFill>
              </a:rPr>
              <a:t>Erlang Kódkeresés Bi-Encoder Modellel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5AFFB-073C-709A-BE46-5D989DCE2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endParaRPr lang="hu-HU" sz="24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80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E7D5-FBFF-7A53-D897-5ABB7FCA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célkitűzés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1772-49B6-D0EA-877F-A8B0B82E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Probléma: Releváns Erlang kódrészletek keresése természetes nyelvű lekérdezésekkel (NL → Code).</a:t>
            </a:r>
          </a:p>
          <a:p>
            <a:r>
              <a:rPr lang="hu-HU" dirty="0"/>
              <a:t>Kihívás: Magas minőségű, párhuzamos (NL, Kód) adathalmazra van szükség a tanításhoz. </a:t>
            </a:r>
          </a:p>
          <a:p>
            <a:r>
              <a:rPr lang="hu-HU" dirty="0"/>
              <a:t>Az Erlang dokumentáció és kommentek gyakran hiányosak</a:t>
            </a:r>
          </a:p>
          <a:p>
            <a:r>
              <a:rPr lang="hu-HU" dirty="0"/>
              <a:t>Megoldás: Egy robusztus pipeline építése, amely magában foglalja:</a:t>
            </a:r>
          </a:p>
          <a:p>
            <a:pPr lvl="1"/>
            <a:r>
              <a:rPr lang="hu-HU" dirty="0"/>
              <a:t>AI-alapú adatgenerálást szigorú minőségbiztosítással.</a:t>
            </a:r>
          </a:p>
          <a:p>
            <a:pPr lvl="1"/>
            <a:r>
              <a:rPr lang="hu-HU" dirty="0"/>
              <a:t>Egy state-of-the-art bi-encoder modellt.</a:t>
            </a:r>
          </a:p>
          <a:p>
            <a:pPr lvl="1"/>
            <a:r>
              <a:rPr lang="hu-HU" dirty="0"/>
              <a:t>Standard retrieval metrikákkal történő kiértékelést.</a:t>
            </a:r>
          </a:p>
        </p:txBody>
      </p:sp>
    </p:spTree>
    <p:extLst>
      <p:ext uri="{BB962C8B-B14F-4D97-AF65-F5344CB8AC3E}">
        <p14:creationId xmlns:p14="http://schemas.microsoft.com/office/powerpoint/2010/main" val="274363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4D9B-4508-BF07-0743-D1B0756F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pipeline áttekintése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26A44-3858-C710-024F-33A42AC98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Input: Nyers Erlang függvények (output/graphcodebert_data/*.jsonl</a:t>
            </a:r>
          </a:p>
          <a:p>
            <a:r>
              <a:rPr lang="hu-HU" dirty="0"/>
              <a:t>Adatgenerálás: scripts/build_code_search_ai_explain_strict.py </a:t>
            </a:r>
          </a:p>
          <a:p>
            <a:pPr lvl="1"/>
            <a:r>
              <a:rPr lang="hu-HU" dirty="0"/>
              <a:t>Output: Magas minőségű (NL, Kód) párok (output/code_search_data_ai/*.jsonl)</a:t>
            </a:r>
          </a:p>
          <a:p>
            <a:r>
              <a:rPr lang="hu-HU" dirty="0"/>
              <a:t>Tanítás: train/train_codesearch.py</a:t>
            </a:r>
          </a:p>
          <a:p>
            <a:pPr lvl="1"/>
            <a:r>
              <a:rPr lang="hu-HU" dirty="0"/>
              <a:t>Input: Generált train.jsonl, valid.jsonl</a:t>
            </a:r>
          </a:p>
          <a:p>
            <a:pPr lvl="1"/>
            <a:r>
              <a:rPr lang="hu-HU" dirty="0"/>
              <a:t>Modell: train/model_codesearch.py (Bi-Encoder)</a:t>
            </a:r>
          </a:p>
          <a:p>
            <a:pPr lvl="1"/>
            <a:r>
              <a:rPr lang="hu-HU" dirty="0"/>
              <a:t>Output: Finomhangolt modell checkpoint (models/.../best/)</a:t>
            </a:r>
          </a:p>
          <a:p>
            <a:r>
              <a:rPr lang="hu-HU" dirty="0"/>
              <a:t>Kiértékelés: eval/eval_code_search.py</a:t>
            </a:r>
          </a:p>
          <a:p>
            <a:pPr lvl="1"/>
            <a:r>
              <a:rPr lang="hu-HU" dirty="0"/>
              <a:t>Input: Finomhangolt modell, generált test.jsonl</a:t>
            </a:r>
          </a:p>
          <a:p>
            <a:pPr lvl="1"/>
            <a:r>
              <a:rPr lang="hu-HU" dirty="0"/>
              <a:t>Output: Metrikák (MRR, Recall@K)</a:t>
            </a:r>
          </a:p>
        </p:txBody>
      </p:sp>
    </p:spTree>
    <p:extLst>
      <p:ext uri="{BB962C8B-B14F-4D97-AF65-F5344CB8AC3E}">
        <p14:creationId xmlns:p14="http://schemas.microsoft.com/office/powerpoint/2010/main" val="26311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9E29-CCF7-8113-9769-0818D310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Magas Minőségű NL Generálása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141F-98E3-37AE-7743-D5624429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Script: scripts/build_code_search_ai_explain_strict.py </a:t>
            </a:r>
          </a:p>
          <a:p>
            <a:r>
              <a:rPr lang="hu-HU" dirty="0"/>
              <a:t>Cél: Automatikusan pontos, tömör, angol nyelvű leírásokat készíteni több ezer Erlang függvényhez.</a:t>
            </a:r>
          </a:p>
          <a:p>
            <a:r>
              <a:rPr lang="hu-HU" dirty="0"/>
              <a:t>Stratégia: "AI-first, Fallback-safe" – Az AI-t részesítjük előnyben, de van egy megbízható biztonsági hálónk.</a:t>
            </a:r>
          </a:p>
          <a:p>
            <a:r>
              <a:rPr lang="hu-HU" dirty="0"/>
              <a:t>Generátor Modell: google/gemma-2b-it</a:t>
            </a:r>
          </a:p>
          <a:p>
            <a:pPr lvl="1"/>
            <a:r>
              <a:rPr lang="hu-HU" dirty="0"/>
              <a:t>Utasítás-követő (Instruct-tuned) CausalLM, kiváló minőséget produkál és jól követi a prompt utasításait (kisebb esély a visszhangra).</a:t>
            </a:r>
          </a:p>
          <a:p>
            <a:pPr lvl="1"/>
            <a:r>
              <a:rPr lang="hu-HU" dirty="0"/>
              <a:t>Gyorsítás: 4-bites kvantálással fut a gyorsabb feldolgozásért.</a:t>
            </a:r>
          </a:p>
          <a:p>
            <a:r>
              <a:rPr lang="hu-HU" dirty="0"/>
              <a:t>Chat Prompt: A modell specifikus chat-sablonját használom a legjobb eredmény érdekében.</a:t>
            </a:r>
          </a:p>
          <a:p>
            <a:pPr lvl="1"/>
            <a:r>
              <a:rPr lang="hu-HU" dirty="0"/>
              <a:t>Explicit módon tiltja a kódrészletek, változó- és függvénynév használatát a generált NL-ben.</a:t>
            </a:r>
          </a:p>
        </p:txBody>
      </p:sp>
    </p:spTree>
    <p:extLst>
      <p:ext uri="{BB962C8B-B14F-4D97-AF65-F5344CB8AC3E}">
        <p14:creationId xmlns:p14="http://schemas.microsoft.com/office/powerpoint/2010/main" val="317341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5565-1CFA-6838-FF42-88383975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6199-5523-160E-88DB-4E023BB4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Magas Minőségű NL Generálása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22F72-7852-7359-57F5-40E96F5E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672" y="2350008"/>
            <a:ext cx="7534656" cy="2551176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CHAT_PROMPT_USER_CONTENT = """</a:t>
            </a:r>
          </a:p>
          <a:p>
            <a:pPr marL="0" indent="0">
              <a:buNone/>
            </a:pPr>
            <a:r>
              <a:rPr lang="en-US" i="1" dirty="0"/>
              <a:t>Explain this Erlang function in one concise English sentence (6-30 words).</a:t>
            </a:r>
          </a:p>
          <a:p>
            <a:pPr marL="0" indent="0">
              <a:buNone/>
            </a:pPr>
            <a:r>
              <a:rPr lang="en-US" i="1" dirty="0"/>
              <a:t>Do not use variable names or code syntax. Describe its high-level purpose.</a:t>
            </a:r>
          </a:p>
          <a:p>
            <a:pPr marL="0" indent="0">
              <a:buNone/>
            </a:pPr>
            <a:r>
              <a:rPr lang="en-US" i="1" dirty="0"/>
              <a:t>Code:</a:t>
            </a:r>
          </a:p>
          <a:p>
            <a:pPr marL="0" indent="0">
              <a:buNone/>
            </a:pPr>
            <a:r>
              <a:rPr lang="en-US" i="1" dirty="0"/>
              <a:t>{</a:t>
            </a:r>
            <a:r>
              <a:rPr lang="en-US" i="1" dirty="0" err="1"/>
              <a:t>clean_code</a:t>
            </a:r>
            <a:r>
              <a:rPr lang="en-US" i="1" dirty="0"/>
              <a:t>}</a:t>
            </a:r>
          </a:p>
          <a:p>
            <a:pPr marL="0" indent="0">
              <a:buNone/>
            </a:pPr>
            <a:r>
              <a:rPr lang="en-US" i="1" dirty="0"/>
              <a:t>"""</a:t>
            </a:r>
            <a:endParaRPr lang="hu-HU" i="1" dirty="0"/>
          </a:p>
        </p:txBody>
      </p:sp>
    </p:spTree>
    <p:extLst>
      <p:ext uri="{BB962C8B-B14F-4D97-AF65-F5344CB8AC3E}">
        <p14:creationId xmlns:p14="http://schemas.microsoft.com/office/powerpoint/2010/main" val="360319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3879-E11C-544E-F0EC-49CA264B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25B3-DA99-F6BF-8B9C-0B828A49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Magas Minőségű NL Generálása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9D3B-D41B-C24A-96DE-74F0E937B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11155680" cy="1664208"/>
          </a:xfrm>
        </p:spPr>
        <p:txBody>
          <a:bodyPr/>
          <a:lstStyle/>
          <a:p>
            <a:r>
              <a:rPr lang="hu-HU" dirty="0"/>
              <a:t>"Méregszűrők": Minden AI által generált jelöltet ellenőriznek.</a:t>
            </a:r>
          </a:p>
          <a:p>
            <a:r>
              <a:rPr lang="hu-HU" i="1" dirty="0"/>
              <a:t>is_prompt_echo: </a:t>
            </a:r>
            <a:r>
              <a:rPr lang="hu-HU" dirty="0"/>
              <a:t>Kiszűri, ha a modell a prompt utasításait másolja vissza.</a:t>
            </a:r>
          </a:p>
          <a:p>
            <a:r>
              <a:rPr lang="hu-HU" i="1" dirty="0"/>
              <a:t>is_code_echo: </a:t>
            </a:r>
            <a:r>
              <a:rPr lang="hu-HU" dirty="0"/>
              <a:t>Kiszűri, ha a modell a függvénynevet másolja, vagy ha a generált szöveg túl hasonló a nyers kódhoz (SequenceMatcher segítségével).</a:t>
            </a:r>
          </a:p>
          <a:p>
            <a:endParaRPr lang="hu-H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9DE11-F1D6-D94E-D1C2-222C21519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" y="4526853"/>
            <a:ext cx="4858428" cy="1352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DA6F87-C3B0-8108-770D-4FA270E6A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83" y="4242816"/>
            <a:ext cx="4858428" cy="201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6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BDE9-C836-FE9D-26CC-C1DB80B7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DD60C-A591-0B54-72FE-3857E6DE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Magas Minőségű NL Generálása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6575-F766-0BB0-E37A-B7A721AA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Javítás (</a:t>
            </a:r>
            <a:r>
              <a:rPr lang="hu-HU" i="1" dirty="0"/>
              <a:t>fixup_nl</a:t>
            </a:r>
            <a:r>
              <a:rPr lang="hu-HU" dirty="0"/>
              <a:t>): Mielőtt a végső szűrők lefutnának, ez a függvény "megtisztítja" a generált szöveget: eltávolítja a kódszimbólumokat ([], -&gt;, _), biztosítja a nagybetűs kezdést és a mondatvégi írásjelet.</a:t>
            </a:r>
          </a:p>
          <a:p>
            <a:r>
              <a:rPr lang="hu-HU" dirty="0"/>
              <a:t>Intelligens Fallback (</a:t>
            </a:r>
            <a:r>
              <a:rPr lang="hu-HU" i="1" dirty="0"/>
              <a:t>create_fallback_nl</a:t>
            </a:r>
            <a:r>
              <a:rPr lang="hu-HU" dirty="0"/>
              <a:t>): Heurisztikus generálásra visszaugrás. Ha az összes AI jelölt kiesik a méregszűrőkön:</a:t>
            </a:r>
          </a:p>
          <a:p>
            <a:pPr lvl="1"/>
            <a:r>
              <a:rPr lang="hu-HU" dirty="0"/>
              <a:t>Nem használ általános sablont (pl. „handles a task...”)</a:t>
            </a:r>
          </a:p>
          <a:p>
            <a:pPr lvl="1"/>
            <a:r>
              <a:rPr lang="hu-HU" dirty="0"/>
              <a:t>Hanem mintaillesztéssel próbál egy magas minőségű, kézzel írt sablont beilleszteni (pl. gen_tcp → "Handles socket or 'gen_tcp' operations...").</a:t>
            </a:r>
          </a:p>
          <a:p>
            <a:r>
              <a:rPr lang="hu-HU" dirty="0"/>
              <a:t>Eredmény: Az output/code_search_data_ai/{split}.jsonl fájl jobb minőségű AI-generált vagy emberi beszédhez hasonló fallback NL-t tartalmaz. A rossz adatpontokat eldobjuk.</a:t>
            </a:r>
          </a:p>
        </p:txBody>
      </p:sp>
    </p:spTree>
    <p:extLst>
      <p:ext uri="{BB962C8B-B14F-4D97-AF65-F5344CB8AC3E}">
        <p14:creationId xmlns:p14="http://schemas.microsoft.com/office/powerpoint/2010/main" val="3465055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6CFD-372F-7088-ADD9-633BCD56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Adatelőkészítés és betöltés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998D3-5E07-A085-7A36-8546BFE2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Előkészítés: A  generált .jsonl fájlok hatékony betöltése és a GPU számára feldolgozható kötegek (batchek) készítése. </a:t>
            </a:r>
          </a:p>
          <a:p>
            <a:pPr lvl="1"/>
            <a:r>
              <a:rPr lang="hu-HU" dirty="0"/>
              <a:t>Script: datasets/code_search_dataset.py</a:t>
            </a:r>
          </a:p>
          <a:p>
            <a:r>
              <a:rPr lang="hu-HU" dirty="0"/>
              <a:t>CodeSearchDataset:</a:t>
            </a:r>
          </a:p>
          <a:p>
            <a:pPr lvl="1"/>
            <a:r>
              <a:rPr lang="hu-HU" dirty="0"/>
              <a:t>Beolvassa a .jsonl fájlt soronként.</a:t>
            </a:r>
          </a:p>
          <a:p>
            <a:pPr lvl="1"/>
            <a:r>
              <a:rPr lang="hu-HU" dirty="0"/>
              <a:t>Tárolja a {nl, code, idx} szótárak listáját a memóriában.</a:t>
            </a:r>
          </a:p>
          <a:p>
            <a:pPr lvl="1"/>
            <a:r>
              <a:rPr lang="hu-HU" dirty="0"/>
              <a:t>A __getitem__ metódus nyers szöveget ad vissza (tokenizálás nélkül)</a:t>
            </a:r>
          </a:p>
          <a:p>
            <a:r>
              <a:rPr lang="hu-HU" dirty="0"/>
              <a:t>CodeSearchCollator:</a:t>
            </a:r>
          </a:p>
          <a:p>
            <a:pPr lvl="1"/>
            <a:r>
              <a:rPr lang="hu-HU" dirty="0"/>
              <a:t>Megkap egy listát a Dataset-ből ({nl, code} párok). Itt történik a tokenizálás: Meghívja a modell tokenizerét külön az NL és a Code szövegekre.</a:t>
            </a:r>
          </a:p>
          <a:p>
            <a:pPr lvl="1"/>
            <a:r>
              <a:rPr lang="hu-HU" dirty="0"/>
              <a:t>Feltölti (padding) a szekvenciákat a batch-en belüli leghosszabbhoz.</a:t>
            </a:r>
          </a:p>
          <a:p>
            <a:pPr lvl="1"/>
            <a:r>
              <a:rPr lang="hu-HU" dirty="0"/>
              <a:t>torch.Tensor formátumú tensorokat hoz létre, amiket a modell már fel tud dolgozni.</a:t>
            </a:r>
          </a:p>
        </p:txBody>
      </p:sp>
    </p:spTree>
    <p:extLst>
      <p:ext uri="{BB962C8B-B14F-4D97-AF65-F5344CB8AC3E}">
        <p14:creationId xmlns:p14="http://schemas.microsoft.com/office/powerpoint/2010/main" val="405279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8922-71C8-D616-7687-D7D5E1BA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Modell Architektúra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5B7D-7DA4-3695-4818-C3AB87A0A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Script: train/model_codesearch.py</a:t>
            </a:r>
          </a:p>
          <a:p>
            <a:pPr lvl="1"/>
            <a:r>
              <a:rPr lang="hu-HU" dirty="0"/>
              <a:t>Cél: Definiálni azt a neurális hálót, amely megtanulja az NL-t és a Kódot egy közös szemantikai vektortérbe leképezni. Minél hasonlóbb a jelentésük, annál közelebb legyenek a vektorok.</a:t>
            </a:r>
          </a:p>
          <a:p>
            <a:pPr lvl="1"/>
            <a:r>
              <a:rPr lang="hu-HU" dirty="0"/>
              <a:t>Architektúra: Bi-Encoder (vagy Dual-Encoder, Siamese Network).</a:t>
            </a:r>
          </a:p>
          <a:p>
            <a:r>
              <a:rPr lang="hu-HU" dirty="0"/>
              <a:t>CodeSearchEncoder:</a:t>
            </a:r>
          </a:p>
          <a:p>
            <a:pPr lvl="1"/>
            <a:r>
              <a:rPr lang="hu-HU" dirty="0"/>
              <a:t>Betölt egy előtanított transzformer modellt (esetünkben a tanított ErlangBERT).</a:t>
            </a:r>
          </a:p>
          <a:p>
            <a:pPr lvl="1"/>
            <a:r>
              <a:rPr lang="hu-HU" dirty="0"/>
              <a:t>Súly-megosztás (Weight Sharing): Ugyanazt az self.encoder-t használja az NL (encode_nl) és a Kód (encode_code) feldolgozására. Így megtanulnak "ugyanazon a nyelven beszélni".</a:t>
            </a:r>
          </a:p>
          <a:p>
            <a:pPr lvl="1"/>
            <a:r>
              <a:rPr lang="hu-HU" dirty="0"/>
              <a:t>Mindkét esetben kinyeri a [CLS] token embeddingjét. Opcionálisan egy ProjectionHead-et használ. </a:t>
            </a:r>
          </a:p>
          <a:p>
            <a:pPr lvl="1"/>
            <a:r>
              <a:rPr lang="hu-HU" dirty="0"/>
              <a:t>L2 Normalizálás (_l2norm): A kimeneti vektorokat egységnyi hosszúságúra skálázza, így a vektorok közötti koszinusz-hasonlóság (cosine-similarity) egyszerűen a skalárszorzatukkal számolható, ami szupergyors a GPU-n!</a:t>
            </a:r>
          </a:p>
        </p:txBody>
      </p:sp>
    </p:spTree>
    <p:extLst>
      <p:ext uri="{BB962C8B-B14F-4D97-AF65-F5344CB8AC3E}">
        <p14:creationId xmlns:p14="http://schemas.microsoft.com/office/powerpoint/2010/main" val="307090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E9B5-ACF8-DD59-7D03-66010A96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96696"/>
            <a:ext cx="11155680" cy="1463040"/>
          </a:xfrm>
        </p:spPr>
        <p:txBody>
          <a:bodyPr/>
          <a:lstStyle/>
          <a:p>
            <a:r>
              <a:rPr lang="hu-HU" dirty="0"/>
              <a:t>Tanítási folyamat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8177-578A-394C-2016-7AC6D9B3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Script: train/train_codesearch.py</a:t>
            </a:r>
          </a:p>
          <a:p>
            <a:pPr lvl="1"/>
            <a:r>
              <a:rPr lang="hu-HU" dirty="0"/>
              <a:t>Cél: Finomhangolni a bi-encoder modellt a generált (NL, Kód) párok segítségével.</a:t>
            </a:r>
          </a:p>
          <a:p>
            <a:pPr lvl="1"/>
            <a:r>
              <a:rPr lang="hu-HU" dirty="0"/>
              <a:t>Módszer: Kontrasztív Tanulás (Contrastive Learning) az InfoNCE veszteségfüggvénnyel.</a:t>
            </a:r>
          </a:p>
          <a:p>
            <a:r>
              <a:rPr lang="hu-HU" dirty="0"/>
              <a:t>InfoNCE Veszteség (info_nce_symmetric): </a:t>
            </a:r>
          </a:p>
          <a:p>
            <a:pPr lvl="1"/>
            <a:r>
              <a:rPr lang="hu-HU" dirty="0"/>
              <a:t>Egy B méretű batch esetén kiszámol egy (B, B) méretű hasonlósági mátrixot. A cella (i, j) értéke az NL_i és Code_j vektorok koszinusz-hasonlósága.</a:t>
            </a:r>
          </a:p>
          <a:p>
            <a:pPr lvl="1"/>
            <a:r>
              <a:rPr lang="hu-HU" dirty="0"/>
              <a:t>A cél: A főátló elemeit (a helyes, "pozitív" párokat, NL_i vs Code_i) a lehető legmagasabbra (közel 1.0-hoz) tolni.</a:t>
            </a:r>
          </a:p>
          <a:p>
            <a:pPr lvl="1"/>
            <a:r>
              <a:rPr lang="hu-HU" dirty="0"/>
              <a:t>Az összes átlón kívüli elemet (a helytelen, "negatív" párokat, NL_i vs Code_j ahol i != j) a lehető legalacsonyabbra (közel 0.0-hoz) nyomni.</a:t>
            </a:r>
          </a:p>
          <a:p>
            <a:pPr lvl="1"/>
            <a:r>
              <a:rPr lang="hu-HU" dirty="0"/>
              <a:t>A temperature paraméter "élesíti" a hasonlósági értékeket, segítve a modellnek a különbségtételben.</a:t>
            </a:r>
          </a:p>
        </p:txBody>
      </p:sp>
    </p:spTree>
    <p:extLst>
      <p:ext uri="{BB962C8B-B14F-4D97-AF65-F5344CB8AC3E}">
        <p14:creationId xmlns:p14="http://schemas.microsoft.com/office/powerpoint/2010/main" val="79261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27E6-CE7E-93DE-4987-1C371A78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2AA8-69F6-AF4F-9F32-CD5E9BD1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96696"/>
            <a:ext cx="11155680" cy="1463040"/>
          </a:xfrm>
        </p:spPr>
        <p:txBody>
          <a:bodyPr/>
          <a:lstStyle/>
          <a:p>
            <a:r>
              <a:rPr lang="hu-HU" dirty="0"/>
              <a:t>Tanítási folyamat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15BE8-9E40-AB13-1535-25632459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Standard PyTorch tanítási ciklus:</a:t>
            </a:r>
          </a:p>
          <a:p>
            <a:pPr lvl="1"/>
            <a:r>
              <a:rPr lang="hu-HU" dirty="0"/>
              <a:t>Adatbetöltés (DataLoader).</a:t>
            </a:r>
          </a:p>
          <a:p>
            <a:pPr lvl="1"/>
            <a:r>
              <a:rPr lang="hu-HU" dirty="0"/>
              <a:t>Modell meghívása (encode_nl, encode_code).</a:t>
            </a:r>
          </a:p>
          <a:p>
            <a:pPr lvl="1"/>
            <a:r>
              <a:rPr lang="hu-HU" dirty="0"/>
              <a:t>Veszteség számítása (info_nce_symmetric).</a:t>
            </a:r>
          </a:p>
          <a:p>
            <a:pPr lvl="1"/>
            <a:r>
              <a:rPr lang="hu-HU" dirty="0"/>
              <a:t>Gradiens számítása (loss.backward()).</a:t>
            </a:r>
          </a:p>
          <a:p>
            <a:pPr lvl="1"/>
            <a:r>
              <a:rPr lang="hu-HU" dirty="0"/>
              <a:t>Súlyok frissítése (optim.step(), sched.step()).</a:t>
            </a:r>
          </a:p>
          <a:p>
            <a:pPr lvl="1"/>
            <a:r>
              <a:rPr lang="hu-HU" dirty="0"/>
              <a:t>Validáció: Epoch-onként egy gyors, "batch-local" MRR számítás (compute_mrr_at_k) a valid adathalmazon. </a:t>
            </a:r>
          </a:p>
        </p:txBody>
      </p:sp>
    </p:spTree>
    <p:extLst>
      <p:ext uri="{BB962C8B-B14F-4D97-AF65-F5344CB8AC3E}">
        <p14:creationId xmlns:p14="http://schemas.microsoft.com/office/powerpoint/2010/main" val="2341706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5E43-77A3-ADC6-0228-9E089B67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Teljesítmény Kiértékelése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10E1-E2A7-B7F0-5B48-28E0B0D2D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Script: eval/eval_code_search.py</a:t>
            </a:r>
          </a:p>
          <a:p>
            <a:pPr lvl="1"/>
            <a:r>
              <a:rPr lang="hu-HU" dirty="0"/>
              <a:t>Cél: Megmérni a betanított modell valós keresési teljesítményét a test adathalmazon, standard retrieval metrikákkal.</a:t>
            </a:r>
          </a:p>
          <a:p>
            <a:r>
              <a:rPr lang="hu-HU" dirty="0"/>
              <a:t>Kiértékelési folyamat</a:t>
            </a:r>
          </a:p>
          <a:p>
            <a:pPr lvl="1"/>
            <a:r>
              <a:rPr lang="hu-HU" dirty="0"/>
              <a:t>Modell Betöltése: Betölti a best/ mappából a legjobb modell súlyait (load_codesearch_encoder).</a:t>
            </a:r>
          </a:p>
          <a:p>
            <a:pPr lvl="1"/>
            <a:r>
              <a:rPr lang="hu-HU" dirty="0"/>
              <a:t>Kód Index Építése: Végigmegy a teljes test.jsonl-en, és csak a kódokat enkódolja (embed_codes). Az eredmény egy (N, H) méretű NumPy mátrix (code_vecs), ahol N az összes teszt kód száma. </a:t>
            </a:r>
          </a:p>
          <a:p>
            <a:pPr lvl="1"/>
            <a:r>
              <a:rPr lang="hu-HU" dirty="0"/>
              <a:t>Lekérdezések Enkódolása: Végigmegy a test.jsonl-en, és csak az NL-eket enkódolja (embed_queries). Ez egy (Q, H) mátrix (nl_vecs).</a:t>
            </a:r>
          </a:p>
          <a:p>
            <a:pPr lvl="1"/>
            <a:r>
              <a:rPr lang="hu-HU" dirty="0"/>
              <a:t>Keresés (Retrieval): Kiszámolja a hasonlóságot minden query és az összes kód között a mátrixszorzattal. Ez egy (Q, N) mátrix.</a:t>
            </a:r>
          </a:p>
          <a:p>
            <a:pPr lvl="1"/>
            <a:r>
              <a:rPr lang="hu-HU" dirty="0"/>
              <a:t>Rangsorolás: Minden query-hez (sorhoz) megkeresi a k legmagasabb hasonlósági értékkel rendelkező kód indexét (cosine_topk).</a:t>
            </a:r>
          </a:p>
          <a:p>
            <a:pPr lvl="1"/>
            <a:r>
              <a:rPr lang="hu-HU" dirty="0"/>
              <a:t>Metrikák Számítása (compute_metrics): MRR (Mean Reciprocal Rank): Átlagosan hanyadik helyen találja meg a helyes kódot? Recall@K: Az esetek hány százalékában van a helyes kód a top K találat között? (pl. R@1, R@5, R@10)</a:t>
            </a:r>
          </a:p>
        </p:txBody>
      </p:sp>
    </p:spTree>
    <p:extLst>
      <p:ext uri="{BB962C8B-B14F-4D97-AF65-F5344CB8AC3E}">
        <p14:creationId xmlns:p14="http://schemas.microsoft.com/office/powerpoint/2010/main" val="7300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5A4A-3183-9F5A-95BD-1D30B902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Beüzemelés és használat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0572-00B3-3781-505E-7056CA31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Python 3.11+, venv</a:t>
            </a:r>
          </a:p>
          <a:p>
            <a:r>
              <a:rPr lang="hu-HU" dirty="0"/>
              <a:t>pip install -r requirements.txt (torch, transformers, sentence-transformers, numpy, bitsandbytes, accelerate)</a:t>
            </a:r>
          </a:p>
          <a:p>
            <a:r>
              <a:rPr lang="hu-HU" dirty="0"/>
              <a:t>huggingface-cli login (A Gemma modellhez)</a:t>
            </a:r>
          </a:p>
          <a:p>
            <a:r>
              <a:rPr lang="hu-HU" dirty="0"/>
              <a:t>pip install flash-attn --no-build-isolation (RTX 30xx/40xx kártyákhoz)</a:t>
            </a:r>
          </a:p>
          <a:p>
            <a:r>
              <a:rPr lang="hu-HU" dirty="0"/>
              <a:t>Adatgenerálás</a:t>
            </a:r>
          </a:p>
          <a:p>
            <a:pPr marL="0" indent="0">
              <a:buNone/>
            </a:pPr>
            <a:r>
              <a:rPr lang="hu-HU" i="1" dirty="0"/>
              <a:t>python scripts/build_code_search_ai_explain_strict.py `</a:t>
            </a:r>
          </a:p>
          <a:p>
            <a:pPr marL="0" indent="0">
              <a:buNone/>
            </a:pPr>
            <a:r>
              <a:rPr lang="hu-HU" i="1" dirty="0"/>
              <a:t>    --splits-dir output/graphcodebert_data `</a:t>
            </a:r>
          </a:p>
          <a:p>
            <a:pPr marL="0" indent="0">
              <a:buNone/>
            </a:pPr>
            <a:r>
              <a:rPr lang="hu-HU" i="1" dirty="0"/>
              <a:t>    --out-dir output/code_search_data_ai `</a:t>
            </a:r>
          </a:p>
          <a:p>
            <a:pPr marL="0" indent="0">
              <a:buNone/>
            </a:pPr>
            <a:r>
              <a:rPr lang="hu-HU" i="1" dirty="0"/>
              <a:t>    --limit 2000</a:t>
            </a:r>
          </a:p>
        </p:txBody>
      </p:sp>
    </p:spTree>
    <p:extLst>
      <p:ext uri="{BB962C8B-B14F-4D97-AF65-F5344CB8AC3E}">
        <p14:creationId xmlns:p14="http://schemas.microsoft.com/office/powerpoint/2010/main" val="171350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E6C0-E668-B64B-AAB3-E8EC7106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1ECF-DDF6-0493-BCD8-B940B410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Beüzemelés és használat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3C134-246E-AF0B-4CD3-557C1E622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Modell Tanítása</a:t>
            </a:r>
          </a:p>
          <a:p>
            <a:pPr marL="0" indent="0">
              <a:buNone/>
            </a:pPr>
            <a:r>
              <a:rPr lang="hu-HU" i="1" dirty="0"/>
              <a:t>python train/train_codesearch.py `</a:t>
            </a:r>
          </a:p>
          <a:p>
            <a:pPr marL="0" indent="0">
              <a:buNone/>
            </a:pPr>
            <a:r>
              <a:rPr lang="hu-HU" i="1" dirty="0"/>
              <a:t>    --base-checkpoint path/to/your/erlang-bert `</a:t>
            </a:r>
          </a:p>
          <a:p>
            <a:pPr marL="0" indent="0">
              <a:buNone/>
            </a:pPr>
            <a:r>
              <a:rPr lang="hu-HU" i="1" dirty="0"/>
              <a:t>    --train-file output/code_search_data_ai/train.jsonl `</a:t>
            </a:r>
          </a:p>
          <a:p>
            <a:pPr marL="0" indent="0">
              <a:buNone/>
            </a:pPr>
            <a:r>
              <a:rPr lang="hu-HU" i="1" dirty="0"/>
              <a:t>    --valid-file output/code_search_data_ai/valid.jsonl `</a:t>
            </a:r>
          </a:p>
          <a:p>
            <a:pPr marL="0" indent="0">
              <a:buNone/>
            </a:pPr>
            <a:r>
              <a:rPr lang="hu-HU" i="1" dirty="0"/>
              <a:t>    --out-dir models/erlang_codesearch_run_FINAL `</a:t>
            </a:r>
          </a:p>
          <a:p>
            <a:pPr marL="0" indent="0">
              <a:buNone/>
            </a:pPr>
            <a:r>
              <a:rPr lang="hu-HU" i="1" dirty="0"/>
              <a:t>    --batch-size 32 `</a:t>
            </a:r>
          </a:p>
          <a:p>
            <a:pPr marL="0" indent="0">
              <a:buNone/>
            </a:pPr>
            <a:r>
              <a:rPr lang="hu-HU" i="1" dirty="0"/>
              <a:t>    --epochs 4</a:t>
            </a:r>
          </a:p>
        </p:txBody>
      </p:sp>
    </p:spTree>
    <p:extLst>
      <p:ext uri="{BB962C8B-B14F-4D97-AF65-F5344CB8AC3E}">
        <p14:creationId xmlns:p14="http://schemas.microsoft.com/office/powerpoint/2010/main" val="2349703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5A92-0A5B-FA7C-9642-6EDA87EE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218D-9D78-5B34-9E24-6F6B1869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Beüzemelés és használat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EC37-D7A5-63DE-E34E-31D4C62E2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Kiértékelés</a:t>
            </a:r>
          </a:p>
          <a:p>
            <a:pPr marL="0" indent="0">
              <a:buNone/>
            </a:pPr>
            <a:r>
              <a:rPr lang="hu-HU" i="1" dirty="0"/>
              <a:t>python eval/eval_code_search.py `</a:t>
            </a:r>
          </a:p>
          <a:p>
            <a:pPr marL="0" indent="0">
              <a:buNone/>
            </a:pPr>
            <a:r>
              <a:rPr lang="hu-HU" i="1" dirty="0"/>
              <a:t>    --model-checkpoint models/erlang_codesearch_run_FINAL/best `</a:t>
            </a:r>
          </a:p>
          <a:p>
            <a:pPr marL="0" indent="0">
              <a:buNone/>
            </a:pPr>
            <a:r>
              <a:rPr lang="hu-HU" i="1" dirty="0"/>
              <a:t>    --data-file output/code_search_data_ai/test.jsonl `</a:t>
            </a:r>
          </a:p>
          <a:p>
            <a:pPr marL="0" indent="0">
              <a:buNone/>
            </a:pPr>
            <a:r>
              <a:rPr lang="hu-HU" i="1" dirty="0"/>
              <a:t>    --batch-size 64 `</a:t>
            </a:r>
          </a:p>
          <a:p>
            <a:pPr marL="0" indent="0">
              <a:buNone/>
            </a:pPr>
            <a:r>
              <a:rPr lang="hu-HU" i="1" dirty="0"/>
              <a:t>    --k 1 3 5 10 `</a:t>
            </a:r>
          </a:p>
          <a:p>
            <a:pPr marL="0" indent="0">
              <a:buNone/>
            </a:pPr>
            <a:r>
              <a:rPr lang="hu-HU" i="1" dirty="0"/>
              <a:t>    --save-report eval/report_FINAL.json `</a:t>
            </a:r>
          </a:p>
          <a:p>
            <a:pPr marL="0" indent="0">
              <a:buNone/>
            </a:pPr>
            <a:r>
              <a:rPr lang="hu-HU" i="1" dirty="0"/>
              <a:t>    --save-embeddings output/code_search_index/test_embeds_FINAL.npz</a:t>
            </a:r>
          </a:p>
        </p:txBody>
      </p:sp>
    </p:spTree>
    <p:extLst>
      <p:ext uri="{BB962C8B-B14F-4D97-AF65-F5344CB8AC3E}">
        <p14:creationId xmlns:p14="http://schemas.microsoft.com/office/powerpoint/2010/main" val="397680465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1567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Bierstadt</vt:lpstr>
      <vt:lpstr>GestaltVTI</vt:lpstr>
      <vt:lpstr>Erlang Kódkeresés Bi-Encoder Modellel</vt:lpstr>
      <vt:lpstr>A célkitűzés</vt:lpstr>
      <vt:lpstr>A pipeline áttekintése</vt:lpstr>
      <vt:lpstr>Magas Minőségű NL Generálása</vt:lpstr>
      <vt:lpstr>Magas Minőségű NL Generálása</vt:lpstr>
      <vt:lpstr>Magas Minőségű NL Generálása</vt:lpstr>
      <vt:lpstr>Magas Minőségű NL Generálása</vt:lpstr>
      <vt:lpstr>Adatelőkészítés és betöltés</vt:lpstr>
      <vt:lpstr>A Modell Architektúra</vt:lpstr>
      <vt:lpstr>Tanítási folyamat</vt:lpstr>
      <vt:lpstr>Tanítási folyamat</vt:lpstr>
      <vt:lpstr>Teljesítmény Kiértékelése</vt:lpstr>
      <vt:lpstr>Beüzemelés és használat</vt:lpstr>
      <vt:lpstr>Beüzemelés és használat</vt:lpstr>
      <vt:lpstr>Beüzemelés és használat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Nánási Bence</dc:creator>
  <cp:lastModifiedBy>Nánási Bence</cp:lastModifiedBy>
  <cp:revision>2</cp:revision>
  <dcterms:created xsi:type="dcterms:W3CDTF">2025-10-28T15:11:32Z</dcterms:created>
  <dcterms:modified xsi:type="dcterms:W3CDTF">2025-10-29T16:06:52Z</dcterms:modified>
</cp:coreProperties>
</file>